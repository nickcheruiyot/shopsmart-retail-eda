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b77e45c-ffb2-31cd-8eaf-0128b6b475fa}">
          <p14:sldIdLst>
            <p14:sldId id="256"/>
          </p14:sldIdLst>
        </p14:section>
        <p14:section name="Findings" id="{02a0af54-8998-649e-5366-4d83c2eb2263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Next steps" id="{89ecb1c1-3ae2-d358-a3f4-d55e6da305ed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33333"/>
                </a:solidFill>
                <a:latin typeface="+mn-lt"/>
              </a:rPr>
              <a:t>Monthly revenue, Completed orders (NGN millions)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(NGN M)</c:v>
                </c:pt>
              </c:strCache>
            </c:strRef>
          </c:tx>
          <c:spPr>
            <a:solidFill>
              <a:srgbClr val="1F3A5F"/>
            </a:solidFill>
            <a:ln w="38100" cap="flat">
              <a:solidFill>
                <a:srgbClr val="1F3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3A5F"/>
              </a:solidFill>
              <a:ln w="9525" cap="flat">
                <a:solidFill>
                  <a:srgbClr val="1F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214.5</c:v>
                </c:pt>
                <c:pt idx="1">
                  <c:v>189.8</c:v>
                </c:pt>
                <c:pt idx="2">
                  <c:v>212.7</c:v>
                </c:pt>
                <c:pt idx="3">
                  <c:v>210.7</c:v>
                </c:pt>
                <c:pt idx="4">
                  <c:v>203.4</c:v>
                </c:pt>
                <c:pt idx="5">
                  <c:v>194.5</c:v>
                </c:pt>
                <c:pt idx="6">
                  <c:v>209</c:v>
                </c:pt>
                <c:pt idx="7">
                  <c:v>204</c:v>
                </c:pt>
                <c:pt idx="8">
                  <c:v>206.3</c:v>
                </c:pt>
                <c:pt idx="9">
                  <c:v>219.6</c:v>
                </c:pt>
                <c:pt idx="10">
                  <c:v>207.6</c:v>
                </c:pt>
                <c:pt idx="11">
                  <c:v>224.7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"/>
          <c:min val="0"/>
        </c:scaling>
        <c:delete val="0"/>
        <c:axPos val="l"/>
        <c:majorGridlines>
          <c:spPr>
            <a:ln w="9525" cap="flat">
              <a:solidFill>
                <a:srgbClr val="D9DE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33333"/>
                </a:solidFill>
                <a:latin typeface="+mn-lt"/>
              </a:rPr>
              <a:t>Order value by status (NGN billions)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 value (NGN B)</c:v>
                </c:pt>
              </c:strCache>
            </c:strRef>
          </c:tx>
          <c:spPr>
            <a:solidFill>
              <a:srgbClr val="2E7D6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03A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Completed</c:v>
                  </c:pt>
                  <c:pt idx="1">
                    <c:v>Cancelled</c:v>
                  </c:pt>
                  <c:pt idx="2">
                    <c:v>Pending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</c:v>
                </c:pt>
                <c:pt idx="1">
                  <c:v>2.55</c:v>
                </c:pt>
                <c:pt idx="2">
                  <c:v>2.53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9525" cap="flat">
              <a:solidFill>
                <a:srgbClr val="D9DE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33333"/>
                </a:solidFill>
                <a:latin typeface="+mn-lt"/>
              </a:rPr>
              <a:t>Revenue per product by category (NGN millions)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per product (NGN M)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Home</c:v>
                  </c:pt>
                  <c:pt idx="2">
                    <c:v>Groceries</c:v>
                  </c:pt>
                  <c:pt idx="3">
                    <c:v>Beauty</c:v>
                  </c:pt>
                  <c:pt idx="4">
                    <c:v>Fashion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5.15</c:v>
                </c:pt>
                <c:pt idx="1">
                  <c:v>5.04</c:v>
                </c:pt>
                <c:pt idx="2">
                  <c:v>5.04</c:v>
                </c:pt>
                <c:pt idx="3">
                  <c:v>4.88</c:v>
                </c:pt>
                <c:pt idx="4">
                  <c:v>4.88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9525" cap="flat">
              <a:solidFill>
                <a:srgbClr val="D9DE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33333"/>
                </a:solidFill>
                <a:latin typeface="+mn-lt"/>
              </a:rPr>
              <a:t>Customer segments: share of customers vs revenue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customers (%)</c:v>
                </c:pt>
              </c:strCache>
            </c:strRef>
          </c:tx>
          <c:spPr>
            <a:solidFill>
              <a:srgbClr val="5B7DB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Champions</c:v>
                  </c:pt>
                  <c:pt idx="1">
                    <c:v>Loyal regulars</c:v>
                  </c:pt>
                  <c:pt idx="2">
                    <c:v>Occasional buyers</c:v>
                  </c:pt>
                  <c:pt idx="3">
                    <c:v>At risk / lapsed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14.4</c:v>
                </c:pt>
                <c:pt idx="1">
                  <c:v>34.5</c:v>
                </c:pt>
                <c:pt idx="2">
                  <c:v>31.2</c:v>
                </c:pt>
                <c:pt idx="3">
                  <c:v>19.9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of revenue (%)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Champions</c:v>
                  </c:pt>
                  <c:pt idx="1">
                    <c:v>Loyal regulars</c:v>
                  </c:pt>
                  <c:pt idx="2">
                    <c:v>Occasional buyers</c:v>
                  </c:pt>
                  <c:pt idx="3">
                    <c:v>At risk / lapsed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</c:v>
                </c:pt>
                <c:pt idx="1">
                  <c:v>41.9</c:v>
                </c:pt>
                <c:pt idx="2">
                  <c:v>16.6</c:v>
                </c:pt>
                <c:pt idx="3">
                  <c:v>10.5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nine linked ShopSmart tables, 50,000 orders from 2025, 25 stores. The goal was to understand and clean the data before any machine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counts Completed orders only. Gross order value across all statuses is NGN 7.58B, shown for transparency. Currency is assumed to be NGN.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seasonality is mild (about 4.7% variation). February looks low partly because it has only 28 days. Q4 is the strongest quarter, about 6% above the Q1 to Q3 average.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biggest opportunity in the data. Recommendation: record a reason for every cancellation, set a time limit for Pending orders and track the completion rate weekly.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Beauty has the highest total revenue only because it has the largest catalogue (119 products). Per product, categories earn NGN 4.88M to NGN 5.15M. Rankings reflect scale, not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discount column looks like a percentage (5, 10, 15, 20) but line_total subtracts it as a flat amount. Order prices are unrelated to catalogue prices. 270 refunds exceed the order value. These rows are flagged, not deleted, so totals are not silently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K-Means on recency, frequency and spend gave four segments. Champions are 14.4% of customers but 31.0% of revenue; At-risk customers have not bought for about 233 days. Overstock accounts for NGN 2.95B of the NGN 3.17B inventory value. Gold, Silver and Bronze tiers spend within 0.6% of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of priority: the completion funnel is the biggest revenue lever; data fixes come before any modelling; restocking and customer win-back are quick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prediction is not viable until the returns data is fixed. Order value is arithmetic (quantity x price), so modelling it adds little.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78638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3464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AnalystLab Africa  |  ShopSmart Retail EDA  |  #AnalystLabAfrica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ShopSmart Retail Group: what 50,000 orders tell us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34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Exploratory Data Analysis, Week 1 | Mission DS01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Cheruiyot Nickson Kirui | AnalystLab Africa | #AnalystLabAfrica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business at a glance</a:t>
            </a:r>
            <a:endParaRPr lang="en-US" sz="3400" dirty="0"/>
          </a:p>
        </p:txBody>
      </p:sp>
      <p:sp>
        <p:nvSpPr>
          <p:cNvPr id="3" name="KPI 1 card"/>
          <p:cNvSpPr/>
          <p:nvPr/>
        </p:nvSpPr>
        <p:spPr>
          <a:xfrm>
            <a:off x="457200" y="137160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KPI 1 value"/>
          <p:cNvSpPr txBox="1"/>
          <p:nvPr/>
        </p:nvSpPr>
        <p:spPr>
          <a:xfrm>
            <a:off x="640080" y="15087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2.50B</a:t>
            </a:r>
            <a:endParaRPr lang="en-US" sz="4000" dirty="0"/>
          </a:p>
        </p:txBody>
      </p:sp>
      <p:sp>
        <p:nvSpPr>
          <p:cNvPr id="5" name="KPI 1 label"/>
          <p:cNvSpPr txBox="1"/>
          <p:nvPr/>
        </p:nvSpPr>
        <p:spPr>
          <a:xfrm>
            <a:off x="640080" y="243230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NGN realised revenue (Completed orders)</a:t>
            </a:r>
            <a:endParaRPr lang="en-US" sz="1400" dirty="0"/>
          </a:p>
        </p:txBody>
      </p:sp>
      <p:sp>
        <p:nvSpPr>
          <p:cNvPr id="6" name="KPI 2 card"/>
          <p:cNvSpPr/>
          <p:nvPr/>
        </p:nvSpPr>
        <p:spPr>
          <a:xfrm>
            <a:off x="2560320" y="137160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KPI 2 value"/>
          <p:cNvSpPr txBox="1"/>
          <p:nvPr/>
        </p:nvSpPr>
        <p:spPr>
          <a:xfrm>
            <a:off x="2743200" y="15087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03A2E"/>
                </a:solidFill>
              </a:rPr>
              <a:t>33.1%</a:t>
            </a:r>
            <a:endParaRPr lang="en-US" sz="4000" dirty="0"/>
          </a:p>
        </p:txBody>
      </p:sp>
      <p:sp>
        <p:nvSpPr>
          <p:cNvPr id="8" name="KPI 2 label"/>
          <p:cNvSpPr txBox="1"/>
          <p:nvPr/>
        </p:nvSpPr>
        <p:spPr>
          <a:xfrm>
            <a:off x="2743200" y="243230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orders are Completed</a:t>
            </a:r>
            <a:endParaRPr lang="en-US" sz="1400" dirty="0"/>
          </a:p>
        </p:txBody>
      </p:sp>
      <p:sp>
        <p:nvSpPr>
          <p:cNvPr id="9" name="KPI 3 card"/>
          <p:cNvSpPr/>
          <p:nvPr/>
        </p:nvSpPr>
        <p:spPr>
          <a:xfrm>
            <a:off x="4663440" y="137160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KPI 3 value"/>
          <p:cNvSpPr txBox="1"/>
          <p:nvPr/>
        </p:nvSpPr>
        <p:spPr>
          <a:xfrm>
            <a:off x="4846320" y="15087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151K</a:t>
            </a:r>
            <a:endParaRPr lang="en-US" sz="4000" dirty="0"/>
          </a:p>
        </p:txBody>
      </p:sp>
      <p:sp>
        <p:nvSpPr>
          <p:cNvPr id="11" name="KPI 3 label"/>
          <p:cNvSpPr txBox="1"/>
          <p:nvPr/>
        </p:nvSpPr>
        <p:spPr>
          <a:xfrm>
            <a:off x="4846320" y="243230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NGN average order value</a:t>
            </a:r>
            <a:endParaRPr lang="en-US" sz="1400" dirty="0"/>
          </a:p>
        </p:txBody>
      </p:sp>
      <p:sp>
        <p:nvSpPr>
          <p:cNvPr id="12" name="KPI 4 card"/>
          <p:cNvSpPr/>
          <p:nvPr/>
        </p:nvSpPr>
        <p:spPr>
          <a:xfrm>
            <a:off x="6766560" y="1371600"/>
            <a:ext cx="19202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KPI 4 value"/>
          <p:cNvSpPr txBox="1"/>
          <p:nvPr/>
        </p:nvSpPr>
        <p:spPr>
          <a:xfrm>
            <a:off x="6949440" y="15087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4.88%</a:t>
            </a:r>
            <a:endParaRPr lang="en-US" sz="4000" dirty="0"/>
          </a:p>
        </p:txBody>
      </p:sp>
      <p:sp>
        <p:nvSpPr>
          <p:cNvPr id="14" name="KPI 4 label"/>
          <p:cNvSpPr txBox="1"/>
          <p:nvPr/>
        </p:nvSpPr>
        <p:spPr>
          <a:xfrm>
            <a:off x="6949440" y="243230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orders have a return</a:t>
            </a:r>
            <a:endParaRPr lang="en-US" sz="1400" dirty="0"/>
          </a:p>
        </p:txBody>
      </p:sp>
      <p:sp>
        <p:nvSpPr>
          <p:cNvPr id="15" name="Takeaway"/>
          <p:cNvSpPr txBox="1"/>
          <p:nvPr/>
        </p:nvSpPr>
        <p:spPr>
          <a:xfrm>
            <a:off x="457200" y="3520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Across 16,529 completed orders, 25 stores and 5,000 customers. A further NGN 5.08B of order value was cancelled or left pending.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Sales are steady all year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577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rend note 1"/>
          <p:cNvSpPr txBox="1"/>
          <p:nvPr/>
        </p:nvSpPr>
        <p:spPr>
          <a:xfrm>
            <a:off x="6309360" y="13716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</a:rPr>
              <a:t>Average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NGN 208M a month</a:t>
            </a:r>
            <a:endParaRPr lang="en-US" sz="1400" dirty="0"/>
          </a:p>
        </p:txBody>
      </p:sp>
      <p:sp>
        <p:nvSpPr>
          <p:cNvPr id="5" name="Trend note 2"/>
          <p:cNvSpPr txBox="1"/>
          <p:nvPr/>
        </p:nvSpPr>
        <p:spPr>
          <a:xfrm>
            <a:off x="6309360" y="2423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Peak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December, NGN 224.7M</a:t>
            </a:r>
            <a:endParaRPr lang="en-US" sz="1400" dirty="0"/>
          </a:p>
        </p:txBody>
      </p:sp>
      <p:sp>
        <p:nvSpPr>
          <p:cNvPr id="6" name="Trend note 3"/>
          <p:cNvSpPr txBox="1"/>
          <p:nvPr/>
        </p:nvSpPr>
        <p:spPr>
          <a:xfrm>
            <a:off x="6309360" y="3474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3A2E"/>
                </a:solidFill>
              </a:rPr>
              <a:t>Low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February, NGN 189.8M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Only 1 in 3 orders completes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unnel card"/>
          <p:cNvSpPr/>
          <p:nvPr/>
        </p:nvSpPr>
        <p:spPr>
          <a:xfrm>
            <a:off x="5669280" y="1371600"/>
            <a:ext cx="30175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unnel value"/>
          <p:cNvSpPr txBox="1"/>
          <p:nvPr/>
        </p:nvSpPr>
        <p:spPr>
          <a:xfrm>
            <a:off x="5852160" y="1508760"/>
            <a:ext cx="265176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7D6B"/>
                </a:solidFill>
              </a:rPr>
              <a:t>NGN 76M</a:t>
            </a:r>
            <a:endParaRPr lang="en-US" sz="3200" dirty="0"/>
          </a:p>
        </p:txBody>
      </p:sp>
      <p:sp>
        <p:nvSpPr>
          <p:cNvPr id="6" name="Funnel label"/>
          <p:cNvSpPr txBox="1"/>
          <p:nvPr/>
        </p:nvSpPr>
        <p:spPr>
          <a:xfrm>
            <a:off x="5852160" y="2273198"/>
            <a:ext cx="265176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gained for each extra 1 point of orders completed</a:t>
            </a:r>
            <a:endParaRPr lang="en-US" sz="1400" dirty="0"/>
          </a:p>
        </p:txBody>
      </p:sp>
      <p:sp>
        <p:nvSpPr>
          <p:cNvPr id="7" name="Funnel note"/>
          <p:cNvSpPr txBox="1"/>
          <p:nvPr/>
        </p:nvSpPr>
        <p:spPr>
          <a:xfrm>
            <a:off x="5669280" y="31546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33.1% Completed, 33.7% Cancelled, 33.2% Pending. Cancelled and Pending orders hold NGN 5.08B of order value.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Performance is remarkably even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sts card"/>
          <p:cNvSpPr/>
          <p:nvPr/>
        </p:nvSpPr>
        <p:spPr>
          <a:xfrm>
            <a:off x="5669280" y="1371600"/>
            <a:ext cx="30175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sts value"/>
          <p:cNvSpPr txBox="1"/>
          <p:nvPr/>
        </p:nvSpPr>
        <p:spPr>
          <a:xfrm>
            <a:off x="5852160" y="1508760"/>
            <a:ext cx="265176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0 of 8</a:t>
            </a:r>
            <a:endParaRPr lang="en-US" sz="3200" dirty="0"/>
          </a:p>
        </p:txBody>
      </p:sp>
      <p:sp>
        <p:nvSpPr>
          <p:cNvPr id="6" name="Tests label"/>
          <p:cNvSpPr txBox="1"/>
          <p:nvPr/>
        </p:nvSpPr>
        <p:spPr>
          <a:xfrm>
            <a:off x="5852160" y="2273198"/>
            <a:ext cx="265176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statistical tests found a real difference</a:t>
            </a:r>
            <a:endParaRPr lang="en-US" sz="1400" dirty="0"/>
          </a:p>
        </p:txBody>
      </p:sp>
      <p:sp>
        <p:nvSpPr>
          <p:cNvPr id="7" name="Even note"/>
          <p:cNvSpPr txBox="1"/>
          <p:nvPr/>
        </p:nvSpPr>
        <p:spPr>
          <a:xfrm>
            <a:off x="5669280" y="31546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Stores, regions, categories, tiers and channels behave alike. The best store is 13.6% above average; regions are within 4.2% per store.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Data issues to fix first</a:t>
            </a:r>
            <a:endParaRPr lang="en-US" sz="3400" dirty="0"/>
          </a:p>
        </p:txBody>
      </p:sp>
      <p:sp>
        <p:nvSpPr>
          <p:cNvPr id="3" name="Issue 1 card"/>
          <p:cNvSpPr/>
          <p:nvPr/>
        </p:nvSpPr>
        <p:spPr>
          <a:xfrm>
            <a:off x="457200" y="128016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ssue 1 value"/>
          <p:cNvSpPr txBox="1"/>
          <p:nvPr/>
        </p:nvSpPr>
        <p:spPr>
          <a:xfrm>
            <a:off x="640080" y="14173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03A2E"/>
                </a:solidFill>
              </a:rPr>
              <a:t>NGN 250M</a:t>
            </a:r>
            <a:endParaRPr lang="en-US" sz="3200" dirty="0"/>
          </a:p>
        </p:txBody>
      </p:sp>
      <p:sp>
        <p:nvSpPr>
          <p:cNvPr id="5" name="Issue 1 label"/>
          <p:cNvSpPr txBox="1"/>
          <p:nvPr/>
        </p:nvSpPr>
        <p:spPr>
          <a:xfrm>
            <a:off x="640080" y="2128723"/>
            <a:ext cx="356616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possible revenue overstatement if discount is a percentage</a:t>
            </a:r>
            <a:endParaRPr lang="en-US" sz="1400" dirty="0"/>
          </a:p>
        </p:txBody>
      </p:sp>
      <p:sp>
        <p:nvSpPr>
          <p:cNvPr id="6" name="Issue 2 card"/>
          <p:cNvSpPr/>
          <p:nvPr/>
        </p:nvSpPr>
        <p:spPr>
          <a:xfrm>
            <a:off x="4754880" y="128016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ssue 2 value"/>
          <p:cNvSpPr txBox="1"/>
          <p:nvPr/>
        </p:nvSpPr>
        <p:spPr>
          <a:xfrm>
            <a:off x="4937760" y="14173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03A2E"/>
                </a:solidFill>
              </a:rPr>
              <a:t>24.3%</a:t>
            </a:r>
            <a:endParaRPr lang="en-US" sz="3200" dirty="0"/>
          </a:p>
        </p:txBody>
      </p:sp>
      <p:sp>
        <p:nvSpPr>
          <p:cNvPr id="8" name="Issue 2 label"/>
          <p:cNvSpPr txBox="1"/>
          <p:nvPr/>
        </p:nvSpPr>
        <p:spPr>
          <a:xfrm>
            <a:off x="4937760" y="2128723"/>
            <a:ext cx="356616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orders priced below product cost</a:t>
            </a:r>
            <a:endParaRPr lang="en-US" sz="1400" dirty="0"/>
          </a:p>
        </p:txBody>
      </p:sp>
      <p:sp>
        <p:nvSpPr>
          <p:cNvPr id="9" name="Issue 3 card"/>
          <p:cNvSpPr/>
          <p:nvPr/>
        </p:nvSpPr>
        <p:spPr>
          <a:xfrm>
            <a:off x="457200" y="292608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ssue 3 value"/>
          <p:cNvSpPr txBox="1"/>
          <p:nvPr/>
        </p:nvSpPr>
        <p:spPr>
          <a:xfrm>
            <a:off x="640080" y="306324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03A2E"/>
                </a:solidFill>
              </a:rPr>
              <a:t>50.1%</a:t>
            </a:r>
            <a:endParaRPr lang="en-US" sz="3200" dirty="0"/>
          </a:p>
        </p:txBody>
      </p:sp>
      <p:sp>
        <p:nvSpPr>
          <p:cNvPr id="11" name="Issue 3 label"/>
          <p:cNvSpPr txBox="1"/>
          <p:nvPr/>
        </p:nvSpPr>
        <p:spPr>
          <a:xfrm>
            <a:off x="640080" y="3774643"/>
            <a:ext cx="356616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returns dated before the order</a:t>
            </a:r>
            <a:endParaRPr lang="en-US" sz="1400" dirty="0"/>
          </a:p>
        </p:txBody>
      </p:sp>
      <p:sp>
        <p:nvSpPr>
          <p:cNvPr id="12" name="Issue 4 card"/>
          <p:cNvSpPr/>
          <p:nvPr/>
        </p:nvSpPr>
        <p:spPr>
          <a:xfrm>
            <a:off x="4754880" y="292608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Issue 4 value"/>
          <p:cNvSpPr txBox="1"/>
          <p:nvPr/>
        </p:nvSpPr>
        <p:spPr>
          <a:xfrm>
            <a:off x="4937760" y="306324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03A2E"/>
                </a:solidFill>
              </a:rPr>
              <a:t>67.4%</a:t>
            </a:r>
            <a:endParaRPr lang="en-US" sz="3200" dirty="0"/>
          </a:p>
        </p:txBody>
      </p:sp>
      <p:sp>
        <p:nvSpPr>
          <p:cNvPr id="14" name="Issue 4 label"/>
          <p:cNvSpPr txBox="1"/>
          <p:nvPr/>
        </p:nvSpPr>
        <p:spPr>
          <a:xfrm>
            <a:off x="4937760" y="3774643"/>
            <a:ext cx="356616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returns on Cancelled or Pending orders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Customers and inventory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2120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ow stock card"/>
          <p:cNvSpPr/>
          <p:nvPr/>
        </p:nvSpPr>
        <p:spPr>
          <a:xfrm>
            <a:off x="5943600" y="1280160"/>
            <a:ext cx="27432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ow stock value"/>
          <p:cNvSpPr txBox="1"/>
          <p:nvPr/>
        </p:nvSpPr>
        <p:spPr>
          <a:xfrm>
            <a:off x="6126480" y="1417320"/>
            <a:ext cx="237744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03A2E"/>
                </a:solidFill>
              </a:rPr>
              <a:t>21</a:t>
            </a:r>
            <a:endParaRPr lang="en-US" sz="3400" dirty="0"/>
          </a:p>
        </p:txBody>
      </p:sp>
      <p:sp>
        <p:nvSpPr>
          <p:cNvPr id="6" name="Low stock label"/>
          <p:cNvSpPr txBox="1"/>
          <p:nvPr/>
        </p:nvSpPr>
        <p:spPr>
          <a:xfrm>
            <a:off x="6126480" y="2208276"/>
            <a:ext cx="2377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stock records at or below reorder level</a:t>
            </a:r>
            <a:endParaRPr lang="en-US" sz="1400" dirty="0"/>
          </a:p>
        </p:txBody>
      </p:sp>
      <p:sp>
        <p:nvSpPr>
          <p:cNvPr id="7" name="Overstock card"/>
          <p:cNvSpPr/>
          <p:nvPr/>
        </p:nvSpPr>
        <p:spPr>
          <a:xfrm>
            <a:off x="5943600" y="3017520"/>
            <a:ext cx="27432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Overstock value"/>
          <p:cNvSpPr txBox="1"/>
          <p:nvPr/>
        </p:nvSpPr>
        <p:spPr>
          <a:xfrm>
            <a:off x="6126480" y="3154680"/>
            <a:ext cx="237744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4A017"/>
                </a:solidFill>
              </a:rPr>
              <a:t>73.8%</a:t>
            </a:r>
            <a:endParaRPr lang="en-US" sz="3400" dirty="0"/>
          </a:p>
        </p:txBody>
      </p:sp>
      <p:sp>
        <p:nvSpPr>
          <p:cNvPr id="9" name="Overstock label"/>
          <p:cNvSpPr txBox="1"/>
          <p:nvPr/>
        </p:nvSpPr>
        <p:spPr>
          <a:xfrm>
            <a:off x="6126480" y="3945636"/>
            <a:ext cx="2377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records hold over 5x their reorder level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Five recommendations</a:t>
            </a:r>
            <a:endParaRPr lang="en-US" sz="3400" dirty="0"/>
          </a:p>
        </p:txBody>
      </p:sp>
      <p:sp>
        <p:nvSpPr>
          <p:cNvPr id="3" name="Number 1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umber text 1"/>
          <p:cNvSpPr txBox="1"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Recommendation 1"/>
          <p:cNvSpPr txBox="1"/>
          <p:nvPr/>
        </p:nvSpPr>
        <p:spPr>
          <a:xfrm>
            <a:off x="1188720" y="11887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Fix the order-completion funnel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 cancellation reasons and set a limit for Pending orders</a:t>
            </a:r>
            <a:endParaRPr lang="en-US" sz="1600" dirty="0"/>
          </a:p>
        </p:txBody>
      </p:sp>
      <p:sp>
        <p:nvSpPr>
          <p:cNvPr id="6" name="Number 2"/>
          <p:cNvSpPr/>
          <p:nvPr/>
        </p:nvSpPr>
        <p:spPr>
          <a:xfrm>
            <a:off x="457200" y="19385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ber text 2"/>
          <p:cNvSpPr txBox="1"/>
          <p:nvPr/>
        </p:nvSpPr>
        <p:spPr>
          <a:xfrm>
            <a:off x="45720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Recommendation 2"/>
          <p:cNvSpPr txBox="1"/>
          <p:nvPr/>
        </p:nvSpPr>
        <p:spPr>
          <a:xfrm>
            <a:off x="1188720" y="189280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Repair the data rules first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Discounts, order prices, returns logic and store names</a:t>
            </a:r>
            <a:endParaRPr lang="en-US" sz="1600" dirty="0"/>
          </a:p>
        </p:txBody>
      </p:sp>
      <p:sp>
        <p:nvSpPr>
          <p:cNvPr id="9" name="Number 3"/>
          <p:cNvSpPr/>
          <p:nvPr/>
        </p:nvSpPr>
        <p:spPr>
          <a:xfrm>
            <a:off x="457200" y="264261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ber text 3"/>
          <p:cNvSpPr txBox="1"/>
          <p:nvPr/>
        </p:nvSpPr>
        <p:spPr>
          <a:xfrm>
            <a:off x="457200" y="2642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Recommendation 3"/>
          <p:cNvSpPr txBox="1"/>
          <p:nvPr/>
        </p:nvSpPr>
        <p:spPr>
          <a:xfrm>
            <a:off x="1188720" y="2596896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Restock 21 items, review overstock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 with Home Items 212, 414, 302; automate alerts</a:t>
            </a:r>
            <a:endParaRPr lang="en-US" sz="1600" dirty="0"/>
          </a:p>
        </p:txBody>
      </p:sp>
      <p:sp>
        <p:nvSpPr>
          <p:cNvPr id="12" name="Number 4"/>
          <p:cNvSpPr/>
          <p:nvPr/>
        </p:nvSpPr>
        <p:spPr>
          <a:xfrm>
            <a:off x="457200" y="334670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umber text 4"/>
          <p:cNvSpPr txBox="1"/>
          <p:nvPr/>
        </p:nvSpPr>
        <p:spPr>
          <a:xfrm>
            <a:off x="457200" y="3346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Recommendation 4"/>
          <p:cNvSpPr txBox="1"/>
          <p:nvPr/>
        </p:nvSpPr>
        <p:spPr>
          <a:xfrm>
            <a:off x="1188720" y="330098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Win back lapsed customers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About 950 At-risk customers; make tiers reflect spending</a:t>
            </a:r>
            <a:endParaRPr lang="en-US" sz="1600" dirty="0"/>
          </a:p>
        </p:txBody>
      </p:sp>
      <p:sp>
        <p:nvSpPr>
          <p:cNvPr id="15" name="Number 5"/>
          <p:cNvSpPr/>
          <p:nvPr/>
        </p:nvSpPr>
        <p:spPr>
          <a:xfrm>
            <a:off x="457200" y="405079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ber text 5"/>
          <p:cNvSpPr txBox="1"/>
          <p:nvPr/>
        </p:nvSpPr>
        <p:spPr>
          <a:xfrm>
            <a:off x="457200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Recommendation 5"/>
          <p:cNvSpPr txBox="1"/>
          <p:nvPr/>
        </p:nvSpPr>
        <p:spPr>
          <a:xfrm>
            <a:off x="1188720" y="400507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Plan for Q4, avoid small reallocations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Wait for multi-year data before moving resources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machine learning can do next</a:t>
            </a:r>
            <a:endParaRPr lang="en-US" sz="3400" dirty="0"/>
          </a:p>
        </p:txBody>
      </p:sp>
      <p:sp>
        <p:nvSpPr>
          <p:cNvPr id="3" name="ML card 1"/>
          <p:cNvSpPr/>
          <p:nvPr/>
        </p:nvSpPr>
        <p:spPr>
          <a:xfrm>
            <a:off x="457200" y="128016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L status 1"/>
          <p:cNvSpPr txBox="1"/>
          <p:nvPr/>
        </p:nvSpPr>
        <p:spPr>
          <a:xfrm>
            <a:off x="59436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Yes now</a:t>
            </a:r>
            <a:endParaRPr lang="en-US" sz="2200" dirty="0"/>
          </a:p>
        </p:txBody>
      </p:sp>
      <p:sp>
        <p:nvSpPr>
          <p:cNvPr id="5" name="ML items 1"/>
          <p:cNvSpPr txBox="1"/>
          <p:nvPr/>
        </p:nvSpPr>
        <p:spPr>
          <a:xfrm>
            <a:off x="594360" y="19202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Customer segmentation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Anomaly rules</a:t>
            </a:r>
            <a:endParaRPr lang="en-US" sz="1400" dirty="0"/>
          </a:p>
        </p:txBody>
      </p:sp>
      <p:sp>
        <p:nvSpPr>
          <p:cNvPr id="6" name="ML card 2"/>
          <p:cNvSpPr/>
          <p:nvPr/>
        </p:nvSpPr>
        <p:spPr>
          <a:xfrm>
            <a:off x="2560320" y="128016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ML status 2"/>
          <p:cNvSpPr txBox="1"/>
          <p:nvPr/>
        </p:nvSpPr>
        <p:spPr>
          <a:xfrm>
            <a:off x="269748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</a:rPr>
              <a:t>Partly</a:t>
            </a:r>
            <a:endParaRPr lang="en-US" sz="2200" dirty="0"/>
          </a:p>
        </p:txBody>
      </p:sp>
      <p:sp>
        <p:nvSpPr>
          <p:cNvPr id="8" name="ML items 2"/>
          <p:cNvSpPr txBox="1"/>
          <p:nvPr/>
        </p:nvSpPr>
        <p:spPr>
          <a:xfrm>
            <a:off x="2697480" y="19202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Churn prediction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Sales forecasting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(needs more history)</a:t>
            </a:r>
            <a:endParaRPr lang="en-US" sz="1400" dirty="0"/>
          </a:p>
        </p:txBody>
      </p:sp>
      <p:sp>
        <p:nvSpPr>
          <p:cNvPr id="9" name="ML card 3"/>
          <p:cNvSpPr/>
          <p:nvPr/>
        </p:nvSpPr>
        <p:spPr>
          <a:xfrm>
            <a:off x="4663440" y="128016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ML status 3"/>
          <p:cNvSpPr txBox="1"/>
          <p:nvPr/>
        </p:nvSpPr>
        <p:spPr>
          <a:xfrm>
            <a:off x="480060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7DB1"/>
                </a:solidFill>
              </a:rPr>
              <a:t>Not yet</a:t>
            </a:r>
            <a:endParaRPr lang="en-US" sz="2200" dirty="0"/>
          </a:p>
        </p:txBody>
      </p:sp>
      <p:sp>
        <p:nvSpPr>
          <p:cNvPr id="11" name="ML items 3"/>
          <p:cNvSpPr txBox="1"/>
          <p:nvPr/>
        </p:nvSpPr>
        <p:spPr>
          <a:xfrm>
            <a:off x="4800600" y="19202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Inventory forecasting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Product recommendation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(missing data)</a:t>
            </a:r>
            <a:endParaRPr lang="en-US" sz="1400" dirty="0"/>
          </a:p>
        </p:txBody>
      </p:sp>
      <p:sp>
        <p:nvSpPr>
          <p:cNvPr id="12" name="ML card 4"/>
          <p:cNvSpPr/>
          <p:nvPr/>
        </p:nvSpPr>
        <p:spPr>
          <a:xfrm>
            <a:off x="6766560" y="128016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ML status 4"/>
          <p:cNvSpPr txBox="1"/>
          <p:nvPr/>
        </p:nvSpPr>
        <p:spPr>
          <a:xfrm>
            <a:off x="690372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3A2E"/>
                </a:solidFill>
              </a:rPr>
              <a:t>No</a:t>
            </a:r>
            <a:endParaRPr lang="en-US" sz="2200" dirty="0"/>
          </a:p>
        </p:txBody>
      </p:sp>
      <p:sp>
        <p:nvSpPr>
          <p:cNvPr id="14" name="ML items 4"/>
          <p:cNvSpPr txBox="1"/>
          <p:nvPr/>
        </p:nvSpPr>
        <p:spPr>
          <a:xfrm>
            <a:off x="6903720" y="19202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Return prediction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ROC-AUC 0.49, a coin flip</a:t>
            </a:r>
            <a:endParaRPr lang="en-US" sz="1400" dirty="0"/>
          </a:p>
        </p:txBody>
      </p:sp>
      <p:sp>
        <p:nvSpPr>
          <p:cNvPr id="15" name="Closing"/>
          <p:cNvSpPr txBox="1"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Thank you  |  Cheruiyot Nickson Kirui  |  #AnalystLabAfrica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alystLab ShopSmart">
  <a:themeElements>
    <a:clrScheme name="AnalystLab ShopSmart">
      <a:dk1>
        <a:srgbClr val="1B1B1B"/>
      </a:dk1>
      <a:lt1>
        <a:srgbClr val="FFFFFF"/>
      </a:lt1>
      <a:dk2>
        <a:srgbClr val="1F3A5F"/>
      </a:dk2>
      <a:lt2>
        <a:srgbClr val="EAF0F7"/>
      </a:lt2>
      <a:accent1>
        <a:srgbClr val="1F3A5F"/>
      </a:accent1>
      <a:accent2>
        <a:srgbClr val="D4A017"/>
      </a:accent2>
      <a:accent3>
        <a:srgbClr val="2E7D6B"/>
      </a:accent3>
      <a:accent4>
        <a:srgbClr val="B03A2E"/>
      </a:accent4>
      <a:accent5>
        <a:srgbClr val="5B7DB1"/>
      </a:accent5>
      <a:accent6>
        <a:srgbClr val="6B7280"/>
      </a:accent6>
      <a:hlink>
        <a:srgbClr val="1F3A5F"/>
      </a:hlink>
      <a:folHlink>
        <a:srgbClr val="6B7280"/>
      </a:folHlink>
    </a:clrScheme>
    <a:fontScheme name="AnalystLab ShopSmar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ShopSmart Retail Group: Exploratory Data Analysis</dc:title>
  <dc:subject>PptxGenJS Presentation</dc:subject>
  <dc:creator>Cheruiyot Nickson Kirui</dc:creator>
  <cp:lastModifiedBy>Cheruiyot Nickson Kirui</cp:lastModifiedBy>
  <cp:revision>1</cp:revision>
  <dcterms:created xsi:type="dcterms:W3CDTF">2026-10-13T07:16:45Z</dcterms:created>
  <dcterms:modified xsi:type="dcterms:W3CDTF">2026-10-13T07:16:45Z</dcterms:modified>
</cp:coreProperties>
</file>